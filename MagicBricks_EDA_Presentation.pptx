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8" autoAdjust="0"/>
    <p:restoredTop sz="94660"/>
  </p:normalViewPr>
  <p:slideViewPr>
    <p:cSldViewPr snapToGrid="0" snapToObjects="1">
      <p:cViewPr>
        <p:scale>
          <a:sx n="150" d="100"/>
          <a:sy n="150" d="100"/>
        </p:scale>
        <p:origin x="108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endParaRPr lang="en-GB"/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(₹)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Chennai</c:v>
                </c:pt>
                <c:pt idx="3">
                  <c:v>Hyderabad</c:v>
                </c:pt>
                <c:pt idx="4">
                  <c:v>Pune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82709.293023255814</c:v>
                </c:pt>
                <c:pt idx="1">
                  <c:v>61166.763636363634</c:v>
                </c:pt>
                <c:pt idx="2">
                  <c:v>43850.381679389313</c:v>
                </c:pt>
                <c:pt idx="3">
                  <c:v>40531.926923076921</c:v>
                </c:pt>
                <c:pt idx="4">
                  <c:v>39082.442028985504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CE-4FA4-AD13-91609A34B8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GB"/>
              <a:t>BHK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 BHK</c:v>
                </c:pt>
                <c:pt idx="1">
                  <c:v>2 BHK</c:v>
                </c:pt>
                <c:pt idx="2">
                  <c:v>3 BHK</c:v>
                </c:pt>
                <c:pt idx="3">
                  <c:v>4 BHK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119</c:v>
                </c:pt>
                <c:pt idx="1">
                  <c:v>475</c:v>
                </c:pt>
                <c:pt idx="2">
                  <c:v>589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8A-4A17-8852-530C310F3A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Properties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Pune</c:v>
                </c:pt>
                <c:pt idx="1">
                  <c:v>Chennai</c:v>
                </c:pt>
                <c:pt idx="2">
                  <c:v>Hyderabad</c:v>
                </c:pt>
                <c:pt idx="3">
                  <c:v>Bangalore</c:v>
                </c:pt>
                <c:pt idx="4">
                  <c:v>Mumbai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276</c:v>
                </c:pt>
                <c:pt idx="1">
                  <c:v>262</c:v>
                </c:pt>
                <c:pt idx="2">
                  <c:v>260</c:v>
                </c:pt>
                <c:pt idx="3">
                  <c:v>220</c:v>
                </c:pt>
                <c:pt idx="4">
                  <c:v>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AD-4752-A943-E852ECA53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(₹)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Furnished</c:v>
                </c:pt>
                <c:pt idx="1">
                  <c:v>Semi-Furnished</c:v>
                </c:pt>
                <c:pt idx="2">
                  <c:v>Unfurnished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59895.944680851062</c:v>
                </c:pt>
                <c:pt idx="1">
                  <c:v>51824.498013245036</c:v>
                </c:pt>
                <c:pt idx="2">
                  <c:v>44650.1975308642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87-4394-A61D-DE89FB219C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GB"/>
              <a:t>Tenant Preference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/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explosion val="48"/>
          <c:dPt>
            <c:idx val="0"/>
            <c:bubble3D val="0"/>
            <c:explosion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B0B-4FB0-8118-704D6436EDDD}"/>
              </c:ext>
            </c:extLst>
          </c:dPt>
          <c:dPt>
            <c:idx val="1"/>
            <c:bubble3D val="0"/>
            <c:explosion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AB0B-4FB0-8118-704D6436EDDD}"/>
              </c:ext>
            </c:extLst>
          </c:dPt>
          <c:dPt>
            <c:idx val="2"/>
            <c:bubble3D val="0"/>
            <c:explosion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B0B-4FB0-8118-704D6436EDDD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Bachelors/Family</c:v>
                </c:pt>
                <c:pt idx="1">
                  <c:v>Bachelors</c:v>
                </c:pt>
                <c:pt idx="2">
                  <c:v>Family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638</c:v>
                </c:pt>
                <c:pt idx="1">
                  <c:v>393</c:v>
                </c:pt>
                <c:pt idx="2">
                  <c:v>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0B-4FB0-8118-704D6436EDDD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1825396825396824E-2"/>
          <c:y val="0.12029333138913192"/>
          <c:w val="0.93452380952380953"/>
          <c:h val="0.77875984251968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Properties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4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invertIfNegative val="1"/>
            <c:bubble3D val="0"/>
            <c:spPr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84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invertIfNegative val="1"/>
            <c:bubble3D val="0"/>
            <c:spPr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84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Flat</c:v>
                </c:pt>
                <c:pt idx="1">
                  <c:v>House</c:v>
                </c:pt>
                <c:pt idx="2">
                  <c:v>Villa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1058</c:v>
                </c:pt>
                <c:pt idx="1">
                  <c:v>125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CB-430D-933A-C0529F64170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(₹)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Lower Parel</c:v>
                </c:pt>
                <c:pt idx="1">
                  <c:v>Dadar</c:v>
                </c:pt>
                <c:pt idx="2">
                  <c:v>Wadala</c:v>
                </c:pt>
                <c:pt idx="3">
                  <c:v>Koramangala</c:v>
                </c:pt>
                <c:pt idx="4">
                  <c:v>Rajajinagar</c:v>
                </c:pt>
                <c:pt idx="5">
                  <c:v>Basavanagudi</c:v>
                </c:pt>
                <c:pt idx="6">
                  <c:v>Indiranagar</c:v>
                </c:pt>
                <c:pt idx="7">
                  <c:v>Chembur</c:v>
                </c:pt>
                <c:pt idx="8">
                  <c:v>Ghatkopar</c:v>
                </c:pt>
                <c:pt idx="9">
                  <c:v>Powai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150000</c:v>
                </c:pt>
                <c:pt idx="1">
                  <c:v>140000</c:v>
                </c:pt>
                <c:pt idx="2">
                  <c:v>120666.66666666667</c:v>
                </c:pt>
                <c:pt idx="3">
                  <c:v>114000</c:v>
                </c:pt>
                <c:pt idx="4">
                  <c:v>111666.66666666667</c:v>
                </c:pt>
                <c:pt idx="5">
                  <c:v>110000</c:v>
                </c:pt>
                <c:pt idx="6">
                  <c:v>102500</c:v>
                </c:pt>
                <c:pt idx="7">
                  <c:v>101666.66666666667</c:v>
                </c:pt>
                <c:pt idx="8">
                  <c:v>94857.142857142855</c:v>
                </c:pt>
                <c:pt idx="9">
                  <c:v>93472.222222222219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40-4B37-96AE-20D7CE95D9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MagicBricks Rental Property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Exploratory Data Analysis of Rental Properties</a:t>
            </a:r>
          </a:p>
          <a:p>
            <a:r>
              <a:t>Across 5 Major Indian Cities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350" y="46038"/>
            <a:ext cx="8229600" cy="1143000"/>
          </a:xfrm>
        </p:spPr>
        <p:txBody>
          <a:bodyPr/>
          <a:lstStyle/>
          <a:p>
            <a:pPr>
              <a:defRPr sz="3600" b="1"/>
            </a:pPr>
            <a:r>
              <a:rPr dirty="0"/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200" y="723900"/>
            <a:ext cx="7759700" cy="558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endParaRPr sz="1600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sz="1600" dirty="0"/>
              <a:t> Total Properties Analyzed: 1,233</a:t>
            </a:r>
          </a:p>
          <a:p>
            <a:pPr>
              <a:spcAft>
                <a:spcPts val="1000"/>
              </a:spcAft>
              <a:defRPr sz="1800"/>
            </a:pPr>
            <a:endParaRPr sz="1600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sz="1600" dirty="0"/>
              <a:t>Cities Covered: Hyderabad, Bangalore, Mumbai, Pune, Chennai</a:t>
            </a:r>
          </a:p>
          <a:p>
            <a:pPr>
              <a:spcAft>
                <a:spcPts val="1000"/>
              </a:spcAft>
              <a:defRPr sz="1800"/>
            </a:pPr>
            <a:endParaRPr sz="1600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sz="1600" dirty="0"/>
              <a:t> Key Metrics:</a:t>
            </a:r>
            <a:endParaRPr lang="en-US" sz="1600" dirty="0"/>
          </a:p>
          <a:p>
            <a:pPr marL="800100" lvl="1" indent="-342900">
              <a:spcAft>
                <a:spcPts val="1000"/>
              </a:spcAft>
              <a:buAutoNum type="arabicPeriod"/>
              <a:defRPr sz="1800"/>
            </a:pPr>
            <a:r>
              <a:rPr sz="1600" dirty="0"/>
              <a:t>Average Rental Price: ₹51,949</a:t>
            </a:r>
            <a:endParaRPr lang="en-US" sz="1600" dirty="0"/>
          </a:p>
          <a:p>
            <a:pPr marL="800100" lvl="1" indent="-342900">
              <a:spcAft>
                <a:spcPts val="1000"/>
              </a:spcAft>
              <a:buAutoNum type="arabicPeriod"/>
              <a:defRPr sz="1800"/>
            </a:pPr>
            <a:r>
              <a:rPr sz="1600" dirty="0"/>
              <a:t> Price Range: ₹4,500 - ₹170,000</a:t>
            </a:r>
          </a:p>
          <a:p>
            <a:pPr marL="800100" lvl="1" indent="-342900">
              <a:spcAft>
                <a:spcPts val="1000"/>
              </a:spcAft>
              <a:buFont typeface="+mj-lt"/>
              <a:buAutoNum type="arabicPeriod"/>
              <a:defRPr sz="1800"/>
            </a:pPr>
            <a:r>
              <a:rPr sz="1600" dirty="0"/>
              <a:t> Average Area: 1,204 </a:t>
            </a:r>
            <a:r>
              <a:rPr sz="1600" dirty="0" err="1"/>
              <a:t>sqft</a:t>
            </a:r>
            <a:endParaRPr lang="en-US" sz="1600" dirty="0"/>
          </a:p>
          <a:p>
            <a:pPr marL="800100" lvl="1" indent="-342900">
              <a:spcAft>
                <a:spcPts val="1000"/>
              </a:spcAft>
              <a:buFont typeface="+mj-lt"/>
              <a:buAutoNum type="arabicPeriod"/>
              <a:defRPr sz="1800"/>
            </a:pPr>
            <a:r>
              <a:rPr sz="1600" dirty="0"/>
              <a:t> Most Common BHK: 3</a:t>
            </a:r>
          </a:p>
          <a:p>
            <a:pPr>
              <a:spcAft>
                <a:spcPts val="1000"/>
              </a:spcAft>
              <a:defRPr sz="1800"/>
            </a:pPr>
            <a:endParaRPr sz="1600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sz="1600" dirty="0"/>
              <a:t>Property Types: Flat, Villa, House</a:t>
            </a:r>
          </a:p>
          <a:p>
            <a:pPr>
              <a:spcAft>
                <a:spcPts val="1000"/>
              </a:spcAft>
              <a:defRPr sz="1800"/>
            </a:pPr>
            <a:endParaRPr sz="1600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sz="1600" dirty="0"/>
              <a:t>Furnishing Options: Furnished, Semi-Furnished, Unfurnished</a:t>
            </a:r>
          </a:p>
          <a:p>
            <a:pPr>
              <a:spcAft>
                <a:spcPts val="1000"/>
              </a:spcAft>
              <a:defRPr sz="1800"/>
            </a:pP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Average Rental Price by City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BHK Configuration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Property Distribution Across Cities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Furnishing Status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Tenant Preference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982654"/>
              </p:ext>
            </p:extLst>
          </p:nvPr>
        </p:nvGraphicFramePr>
        <p:xfrm>
          <a:off x="584200" y="1828800"/>
          <a:ext cx="6731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Property Type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259125"/>
              </p:ext>
            </p:extLst>
          </p:nvPr>
        </p:nvGraphicFramePr>
        <p:xfrm>
          <a:off x="635000" y="1708150"/>
          <a:ext cx="7340600" cy="423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Price Statistics by City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27471"/>
              </p:ext>
            </p:extLst>
          </p:nvPr>
        </p:nvGraphicFramePr>
        <p:xfrm>
          <a:off x="800100" y="1276350"/>
          <a:ext cx="7721598" cy="3587754"/>
        </p:xfrm>
        <a:graphic>
          <a:graphicData uri="http://schemas.openxmlformats.org/drawingml/2006/table">
            <a:tbl>
              <a:tblPr firstRow="1" lastCol="1" bandRow="1">
                <a:tableStyleId>{8EC20E35-A176-4012-BC5E-935CFFF8708E}</a:tableStyleId>
              </a:tblPr>
              <a:tblGrid>
                <a:gridCol w="1286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69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7959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 dirty="0"/>
                        <a:t>Avg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/>
                        <a:t>Min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 dirty="0"/>
                        <a:t>Max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/>
                        <a:t>Median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₹40,532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 dirty="0"/>
                        <a:t>₹4,500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₹140,000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Bangalore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 dirty="0"/>
                        <a:t>₹61,167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 dirty="0"/>
                        <a:t>₹14,000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 dirty="0"/>
                        <a:t>₹160,000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Mumbai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₹82,709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₹14,500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 dirty="0"/>
                        <a:t>₹170,000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Pune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₹39,082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₹160,000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 dirty="0"/>
                        <a:t>₹33,500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₹43,850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/>
                        <a:t>₹7,000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 dirty="0"/>
                        <a:t>₹160,000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200" dirty="0"/>
                        <a:t>₹32,250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Key Insights &amp;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870" y="1284288"/>
            <a:ext cx="768096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/>
            </a:pPr>
            <a:endParaRPr sz="1400" dirty="0"/>
          </a:p>
          <a:p>
            <a:pPr>
              <a:spcAft>
                <a:spcPts val="1200"/>
              </a:spcAft>
              <a:defRPr sz="1800" b="1"/>
            </a:pPr>
            <a:r>
              <a:rPr sz="1400" dirty="0"/>
              <a:t>🏆 Most Expensive City: Mumbai (₹82,709 avg)</a:t>
            </a:r>
          </a:p>
          <a:p>
            <a:pPr>
              <a:spcAft>
                <a:spcPts val="1200"/>
              </a:spcAft>
              <a:defRPr sz="1800" b="1"/>
            </a:pPr>
            <a:endParaRPr sz="1400" dirty="0"/>
          </a:p>
          <a:p>
            <a:pPr>
              <a:spcAft>
                <a:spcPts val="1200"/>
              </a:spcAft>
              <a:defRPr sz="1800" b="1"/>
            </a:pPr>
            <a:r>
              <a:rPr sz="1400" dirty="0"/>
              <a:t>💰 Most Affordable City: Pune (₹39,082 avg)</a:t>
            </a:r>
          </a:p>
          <a:p>
            <a:pPr>
              <a:spcAft>
                <a:spcPts val="1200"/>
              </a:spcAft>
              <a:defRPr sz="1800" b="1"/>
            </a:pPr>
            <a:endParaRPr sz="1400" dirty="0"/>
          </a:p>
          <a:p>
            <a:pPr>
              <a:spcAft>
                <a:spcPts val="1200"/>
              </a:spcAft>
              <a:defRPr sz="1800" b="1"/>
            </a:pPr>
            <a:r>
              <a:rPr sz="1400" dirty="0"/>
              <a:t>🏠 Most Popular Configuration: 3 BHK (589 properties)</a:t>
            </a:r>
          </a:p>
          <a:p>
            <a:pPr>
              <a:spcAft>
                <a:spcPts val="1200"/>
              </a:spcAft>
              <a:defRPr sz="1800" b="1"/>
            </a:pPr>
            <a:endParaRPr sz="1400" dirty="0"/>
          </a:p>
          <a:p>
            <a:pPr>
              <a:spcAft>
                <a:spcPts val="1200"/>
              </a:spcAft>
              <a:defRPr sz="1800" b="1"/>
            </a:pPr>
            <a:r>
              <a:rPr sz="1400" dirty="0"/>
              <a:t>🛋️ Preferred Furnishing: Semi-Furnished (755 properties)</a:t>
            </a:r>
          </a:p>
          <a:p>
            <a:pPr>
              <a:spcAft>
                <a:spcPts val="1200"/>
              </a:spcAft>
              <a:defRPr sz="1800" b="1"/>
            </a:pPr>
            <a:endParaRPr sz="1400" dirty="0"/>
          </a:p>
          <a:p>
            <a:pPr>
              <a:spcAft>
                <a:spcPts val="1200"/>
              </a:spcAft>
              <a:defRPr sz="1800" b="1"/>
            </a:pPr>
            <a:r>
              <a:rPr sz="1400" dirty="0"/>
              <a:t>📊 Average Price per </a:t>
            </a:r>
            <a:r>
              <a:rPr sz="1400" dirty="0" err="1"/>
              <a:t>Sqft</a:t>
            </a:r>
            <a:r>
              <a:rPr sz="1400" dirty="0"/>
              <a:t>: ₹49.80</a:t>
            </a:r>
          </a:p>
          <a:p>
            <a:pPr>
              <a:spcAft>
                <a:spcPts val="1200"/>
              </a:spcAft>
              <a:defRPr sz="1800" b="1"/>
            </a:pPr>
            <a:endParaRPr sz="1400" dirty="0"/>
          </a:p>
          <a:p>
            <a:pPr>
              <a:spcAft>
                <a:spcPts val="1200"/>
              </a:spcAft>
              <a:defRPr sz="1800" b="1"/>
            </a:pPr>
            <a:r>
              <a:rPr sz="1400" dirty="0"/>
              <a:t>👥 Tenant Preference: Bachelors/Family is most common</a:t>
            </a:r>
          </a:p>
          <a:p>
            <a:pPr>
              <a:spcAft>
                <a:spcPts val="1200"/>
              </a:spcAft>
              <a:defRPr sz="1800" b="1"/>
            </a:pPr>
            <a:endParaRPr sz="1400" dirty="0"/>
          </a:p>
          <a:p>
            <a:pPr>
              <a:spcAft>
                <a:spcPts val="1200"/>
              </a:spcAft>
              <a:defRPr sz="1800" b="1"/>
            </a:pPr>
            <a:r>
              <a:rPr sz="1400" dirty="0"/>
              <a:t>🏢 Property Type: Flat dominates the market (1058 properties)</a:t>
            </a:r>
          </a:p>
          <a:p>
            <a:pPr>
              <a:spcAft>
                <a:spcPts val="1200"/>
              </a:spcAft>
              <a:defRPr sz="1800" b="1"/>
            </a:pPr>
            <a:endParaRPr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Top 10 Most Expensive Locations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2600" y="13334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950" y="688569"/>
            <a:ext cx="7150100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✓ Analyzed 1,233 rental properties across 5 major Indian cities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✓ Significant price variations observed between cities and configurations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✓ Strong correlation between area, BHK, and rental price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✓ Market shows clear preferences for certain furnishing types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✓ Data-driven insights can help both landlords and tenants make informed decisions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4215</TotalTime>
  <Words>314</Words>
  <Application>Microsoft Office PowerPoint</Application>
  <PresentationFormat>On-screen Show (4:3)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Dataset Overview</vt:lpstr>
      <vt:lpstr>Average Rental Price by City</vt:lpstr>
      <vt:lpstr>BHK Configuration Analysis</vt:lpstr>
      <vt:lpstr>Property Distribution Across Cities</vt:lpstr>
      <vt:lpstr>Furnishing Status Analysis</vt:lpstr>
      <vt:lpstr>Tenant Preference Distribution</vt:lpstr>
      <vt:lpstr>Property Type Distribution</vt:lpstr>
      <vt:lpstr>Price Statistics by City</vt:lpstr>
      <vt:lpstr>Key Insights &amp; Findings</vt:lpstr>
      <vt:lpstr>Top 10 Most Expensive Locations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SOLANKI</cp:lastModifiedBy>
  <cp:revision>2</cp:revision>
  <dcterms:created xsi:type="dcterms:W3CDTF">2013-01-27T09:14:16Z</dcterms:created>
  <dcterms:modified xsi:type="dcterms:W3CDTF">2026-01-26T17:04:07Z</dcterms:modified>
  <cp:category/>
</cp:coreProperties>
</file>